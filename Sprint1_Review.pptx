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834640"/>
            <a:ext cx="1828800" cy="381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Sprint 1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96C7"/>
                </a:solidFill>
                <a:latin typeface="Segoe UI"/>
              </a:defRPr>
            </a:pPr>
            <a:r>
              <a:t>Conditional Independence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Segoe UI"/>
              </a:defRPr>
            </a:pPr>
            <a:r>
              <a:t>Architecture  |  Rust CI Tests  |  Python Bindings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Sprint Goal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81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1828800"/>
          </a:xfrm>
          <a:prstGeom prst="roundRect">
            <a:avLst/>
          </a:prstGeom>
          <a:solidFill>
            <a:srgbClr val="25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9875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Segoe UI"/>
              </a:defRPr>
            </a:pPr>
            <a:r>
              <a:t>Design the architecture, rewrite conditional independence tests into Rust, and create Python bindings — demonstrating that the end product is achievable and desirable (performance over the Python library).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Sprint Backlog Items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🚧  Chi-square test (in progress)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🚧  Power divergence (in progress)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✅  Extensibility — Registry + Strategy pattern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✅  Python bindings — PyO3 + Maturin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✅  Git repository setup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✅  PearsonCorrelation — fully implemented &amp; tested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81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3291840"/>
          </a:xfrm>
          <a:prstGeom prst="roundRect">
            <a:avLst/>
          </a:prstGeom>
          <a:solidFill>
            <a:srgbClr val="25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C7"/>
                </a:solidFill>
                <a:latin typeface="Segoe UI"/>
              </a:defRPr>
            </a:pPr>
            <a:r>
              <a:t>Rust Workspace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ci-core      — Core library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├ strategy.rs   (CITest trait)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├ registry.rs   (Registry)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└ ci_tests/     (Test impls)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ci_python   — PyO3 bindings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ci-r            — R bindings (planned)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ci_js           — WASM (planned)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371600"/>
            <a:ext cx="3383280" cy="457200"/>
          </a:xfrm>
          <a:prstGeom prst="roundRect">
            <a:avLst/>
          </a:prstGeom>
          <a:solidFill>
            <a:srgbClr val="25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417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C7"/>
                </a:solidFill>
                <a:latin typeface="Segoe UI"/>
              </a:defRPr>
            </a:pPr>
            <a:r>
              <a:t>Strategy Pattern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874520"/>
            <a:ext cx="3383280" cy="278892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2194560"/>
            <a:ext cx="26517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>
                <a:solidFill>
                  <a:srgbClr val="FF7B72"/>
                </a:solidFill>
                <a:latin typeface="Cascadia Code"/>
              </a:rPr>
              <a:t>trait</a:t>
            </a:r>
            <a:r>
              <a:rPr sz="1200">
                <a:solidFill>
                  <a:srgbClr val="E6EDF3"/>
                </a:solidFill>
                <a:latin typeface="Cascadia Code"/>
              </a:rPr>
              <a:t> </a:t>
            </a:r>
            <a:r>
              <a:rPr sz="1200">
                <a:solidFill>
                  <a:srgbClr val="A5D6FF"/>
                </a:solidFill>
                <a:latin typeface="Cascadia Code"/>
              </a:rPr>
              <a:t>CITest</a:t>
            </a:r>
            <a:r>
              <a:rPr sz="1200">
                <a:solidFill>
                  <a:srgbClr val="E6EDF3"/>
                </a:solidFill>
                <a:latin typeface="Cascadia Code"/>
              </a:rPr>
              <a:t>:</a:t>
            </a:r>
            <a:r>
              <a:rPr sz="1200">
                <a:solidFill>
                  <a:srgbClr val="E6EDF3"/>
                </a:solidFill>
                <a:latin typeface="Cascadia Code"/>
              </a:rPr>
              <a:t> </a:t>
            </a:r>
            <a:r>
              <a:rPr sz="1200">
                <a:solidFill>
                  <a:srgbClr val="A5D6FF"/>
                </a:solidFill>
                <a:latin typeface="Cascadia Code"/>
              </a:rPr>
              <a:t>Send</a:t>
            </a:r>
            <a:r>
              <a:rPr sz="1200">
                <a:solidFill>
                  <a:srgbClr val="E6EDF3"/>
                </a:solidFill>
                <a:latin typeface="Cascadia Code"/>
              </a:rPr>
              <a:t> </a:t>
            </a:r>
            <a:r>
              <a:rPr sz="1200">
                <a:solidFill>
                  <a:srgbClr val="E6EDF3"/>
                </a:solidFill>
                <a:latin typeface="Cascadia Code"/>
              </a:rPr>
              <a:t>+</a:t>
            </a:r>
            <a:r>
              <a:rPr sz="1200">
                <a:solidFill>
                  <a:srgbClr val="E6EDF3"/>
                </a:solidFill>
                <a:latin typeface="Cascadia Code"/>
              </a:rPr>
              <a:t> </a:t>
            </a:r>
            <a:r>
              <a:rPr sz="1200">
                <a:solidFill>
                  <a:srgbClr val="A5D6FF"/>
                </a:solidFill>
                <a:latin typeface="Cascadia Code"/>
              </a:rPr>
              <a:t>Sync</a:t>
            </a:r>
            <a:r>
              <a:rPr sz="1200">
                <a:solidFill>
                  <a:srgbClr val="E6EDF3"/>
                </a:solidFill>
                <a:latin typeface="Cascadia Code"/>
              </a:rPr>
              <a:t> </a:t>
            </a:r>
            <a:r>
              <a:rPr sz="1200">
                <a:solidFill>
                  <a:srgbClr val="E6EDF3"/>
                </a:solidFill>
                <a:latin typeface="Cascadia Code"/>
              </a:rPr>
              <a:t>{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>
                <a:solidFill>
                  <a:srgbClr val="E6EDF3"/>
                </a:solidFill>
                <a:latin typeface="Cascadia Code"/>
              </a:rPr>
              <a:t>  </a:t>
            </a:r>
            <a:r>
              <a:rPr sz="1200">
                <a:solidFill>
                  <a:srgbClr val="FF7B72"/>
                </a:solidFill>
                <a:latin typeface="Cascadia Code"/>
              </a:rPr>
              <a:t>fn</a:t>
            </a:r>
            <a:r>
              <a:rPr sz="1200">
                <a:solidFill>
                  <a:srgbClr val="E6EDF3"/>
                </a:solidFill>
                <a:latin typeface="Cascadia Code"/>
              </a:rPr>
              <a:t> </a:t>
            </a:r>
            <a:r>
              <a:rPr sz="1200">
                <a:solidFill>
                  <a:srgbClr val="E6EDF3"/>
                </a:solidFill>
                <a:latin typeface="Cascadia Code"/>
              </a:rPr>
              <a:t>run_test</a:t>
            </a:r>
            <a:r>
              <a:rPr sz="1200">
                <a:solidFill>
                  <a:srgbClr val="E6EDF3"/>
                </a:solidFill>
                <a:latin typeface="Cascadia Code"/>
              </a:rPr>
              <a:t>(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>
                <a:solidFill>
                  <a:srgbClr val="E6EDF3"/>
                </a:solidFill>
                <a:latin typeface="Cascadia Code"/>
              </a:rPr>
              <a:t>    </a:t>
            </a:r>
            <a:r>
              <a:rPr sz="1200">
                <a:solidFill>
                  <a:srgbClr val="FF7B72"/>
                </a:solidFill>
                <a:latin typeface="Cascadia Code"/>
              </a:rPr>
              <a:t>&amp;self</a:t>
            </a:r>
            <a:r>
              <a:rPr sz="1200">
                <a:solidFill>
                  <a:srgbClr val="E6EDF3"/>
                </a:solidFill>
                <a:latin typeface="Cascadia Code"/>
              </a:rPr>
              <a:t>,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>
                <a:solidFill>
                  <a:srgbClr val="E6EDF3"/>
                </a:solidFill>
                <a:latin typeface="Cascadia Code"/>
              </a:rPr>
              <a:t>    </a:t>
            </a:r>
            <a:r>
              <a:rPr sz="1200">
                <a:solidFill>
                  <a:srgbClr val="E6EDF3"/>
                </a:solidFill>
                <a:latin typeface="Cascadia Code"/>
              </a:rPr>
              <a:t>array</a:t>
            </a:r>
            <a:r>
              <a:rPr sz="1200">
                <a:solidFill>
                  <a:srgbClr val="E6EDF3"/>
                </a:solidFill>
                <a:latin typeface="Cascadia Code"/>
              </a:rPr>
              <a:t>:</a:t>
            </a:r>
            <a:r>
              <a:rPr sz="1200">
                <a:solidFill>
                  <a:srgbClr val="E6EDF3"/>
                </a:solidFill>
                <a:latin typeface="Cascadia Code"/>
              </a:rPr>
              <a:t> </a:t>
            </a:r>
            <a:r>
              <a:rPr sz="1200">
                <a:solidFill>
                  <a:srgbClr val="A5D6FF"/>
                </a:solidFill>
                <a:latin typeface="Cascadia Code"/>
              </a:rPr>
              <a:t>Array2</a:t>
            </a:r>
            <a:r>
              <a:rPr sz="1200">
                <a:solidFill>
                  <a:srgbClr val="E6EDF3"/>
                </a:solidFill>
                <a:latin typeface="Cascadia Code"/>
              </a:rPr>
              <a:t>&lt;</a:t>
            </a:r>
            <a:r>
              <a:rPr sz="1200">
                <a:solidFill>
                  <a:srgbClr val="A5D6FF"/>
                </a:solidFill>
                <a:latin typeface="Cascadia Code"/>
              </a:rPr>
              <a:t>f64</a:t>
            </a:r>
            <a:r>
              <a:rPr sz="1200">
                <a:solidFill>
                  <a:srgbClr val="E6EDF3"/>
                </a:solidFill>
                <a:latin typeface="Cascadia Code"/>
              </a:rPr>
              <a:t>&gt;</a:t>
            </a:r>
            <a:r>
              <a:rPr sz="1200">
                <a:solidFill>
                  <a:srgbClr val="E6EDF3"/>
                </a:solidFill>
                <a:latin typeface="Cascadia Code"/>
              </a:rPr>
              <a:t>,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>
                <a:solidFill>
                  <a:srgbClr val="E6EDF3"/>
                </a:solidFill>
                <a:latin typeface="Cascadia Code"/>
              </a:rPr>
              <a:t>    </a:t>
            </a:r>
            <a:r>
              <a:rPr sz="1200">
                <a:solidFill>
                  <a:srgbClr val="E6EDF3"/>
                </a:solidFill>
                <a:latin typeface="Cascadia Code"/>
              </a:rPr>
              <a:t>x_value</a:t>
            </a:r>
            <a:r>
              <a:rPr sz="1200">
                <a:solidFill>
                  <a:srgbClr val="E6EDF3"/>
                </a:solidFill>
                <a:latin typeface="Cascadia Code"/>
              </a:rPr>
              <a:t>:</a:t>
            </a:r>
            <a:r>
              <a:rPr sz="1200">
                <a:solidFill>
                  <a:srgbClr val="E6EDF3"/>
                </a:solidFill>
                <a:latin typeface="Cascadia Code"/>
              </a:rPr>
              <a:t> </a:t>
            </a:r>
            <a:r>
              <a:rPr sz="1200">
                <a:solidFill>
                  <a:srgbClr val="A5D6FF"/>
                </a:solidFill>
                <a:latin typeface="Cascadia Code"/>
              </a:rPr>
              <a:t>Array1</a:t>
            </a:r>
            <a:r>
              <a:rPr sz="1200">
                <a:solidFill>
                  <a:srgbClr val="E6EDF3"/>
                </a:solidFill>
                <a:latin typeface="Cascadia Code"/>
              </a:rPr>
              <a:t>&lt;</a:t>
            </a:r>
            <a:r>
              <a:rPr sz="1200">
                <a:solidFill>
                  <a:srgbClr val="A5D6FF"/>
                </a:solidFill>
                <a:latin typeface="Cascadia Code"/>
              </a:rPr>
              <a:t>f64</a:t>
            </a:r>
            <a:r>
              <a:rPr sz="1200">
                <a:solidFill>
                  <a:srgbClr val="E6EDF3"/>
                </a:solidFill>
                <a:latin typeface="Cascadia Code"/>
              </a:rPr>
              <a:t>&gt;</a:t>
            </a:r>
            <a:r>
              <a:rPr sz="1200">
                <a:solidFill>
                  <a:srgbClr val="E6EDF3"/>
                </a:solidFill>
                <a:latin typeface="Cascadia Code"/>
              </a:rPr>
              <a:t>,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>
                <a:solidFill>
                  <a:srgbClr val="E6EDF3"/>
                </a:solidFill>
                <a:latin typeface="Cascadia Code"/>
              </a:rPr>
              <a:t>    </a:t>
            </a:r>
            <a:r>
              <a:rPr sz="1200">
                <a:solidFill>
                  <a:srgbClr val="E6EDF3"/>
                </a:solidFill>
                <a:latin typeface="Cascadia Code"/>
              </a:rPr>
              <a:t>y_value</a:t>
            </a:r>
            <a:r>
              <a:rPr sz="1200">
                <a:solidFill>
                  <a:srgbClr val="E6EDF3"/>
                </a:solidFill>
                <a:latin typeface="Cascadia Code"/>
              </a:rPr>
              <a:t>:</a:t>
            </a:r>
            <a:r>
              <a:rPr sz="1200">
                <a:solidFill>
                  <a:srgbClr val="E6EDF3"/>
                </a:solidFill>
                <a:latin typeface="Cascadia Code"/>
              </a:rPr>
              <a:t> </a:t>
            </a:r>
            <a:r>
              <a:rPr sz="1200">
                <a:solidFill>
                  <a:srgbClr val="A5D6FF"/>
                </a:solidFill>
                <a:latin typeface="Cascadia Code"/>
              </a:rPr>
              <a:t>Array1</a:t>
            </a:r>
            <a:r>
              <a:rPr sz="1200">
                <a:solidFill>
                  <a:srgbClr val="E6EDF3"/>
                </a:solidFill>
                <a:latin typeface="Cascadia Code"/>
              </a:rPr>
              <a:t>&lt;</a:t>
            </a:r>
            <a:r>
              <a:rPr sz="1200">
                <a:solidFill>
                  <a:srgbClr val="A5D6FF"/>
                </a:solidFill>
                <a:latin typeface="Cascadia Code"/>
              </a:rPr>
              <a:t>f64</a:t>
            </a:r>
            <a:r>
              <a:rPr sz="1200">
                <a:solidFill>
                  <a:srgbClr val="E6EDF3"/>
                </a:solidFill>
                <a:latin typeface="Cascadia Code"/>
              </a:rPr>
              <a:t>&gt;</a:t>
            </a:r>
            <a:r>
              <a:rPr sz="1200">
                <a:solidFill>
                  <a:srgbClr val="E6EDF3"/>
                </a:solidFill>
                <a:latin typeface="Cascadia Code"/>
              </a:rPr>
              <a:t>,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>
                <a:solidFill>
                  <a:srgbClr val="E6EDF3"/>
                </a:solidFill>
                <a:latin typeface="Cascadia Code"/>
              </a:rPr>
              <a:t>    </a:t>
            </a:r>
            <a:r>
              <a:rPr sz="1200">
                <a:solidFill>
                  <a:srgbClr val="E6EDF3"/>
                </a:solidFill>
                <a:latin typeface="Cascadia Code"/>
              </a:rPr>
              <a:t>boolean</a:t>
            </a:r>
            <a:r>
              <a:rPr sz="1200">
                <a:solidFill>
                  <a:srgbClr val="E6EDF3"/>
                </a:solidFill>
                <a:latin typeface="Cascadia Code"/>
              </a:rPr>
              <a:t>:</a:t>
            </a:r>
            <a:r>
              <a:rPr sz="1200">
                <a:solidFill>
                  <a:srgbClr val="E6EDF3"/>
                </a:solidFill>
                <a:latin typeface="Cascadia Code"/>
              </a:rPr>
              <a:t> </a:t>
            </a:r>
            <a:r>
              <a:rPr sz="1200">
                <a:solidFill>
                  <a:srgbClr val="A5D6FF"/>
                </a:solidFill>
                <a:latin typeface="Cascadia Code"/>
              </a:rPr>
              <a:t>bool</a:t>
            </a:r>
            <a:r>
              <a:rPr sz="1200">
                <a:solidFill>
                  <a:srgbClr val="E6EDF3"/>
                </a:solidFill>
                <a:latin typeface="Cascadia Code"/>
              </a:rPr>
              <a:t>,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>
                <a:solidFill>
                  <a:srgbClr val="E6EDF3"/>
                </a:solidFill>
                <a:latin typeface="Cascadia Code"/>
              </a:rPr>
              <a:t>  </a:t>
            </a:r>
            <a:r>
              <a:rPr sz="1200">
                <a:solidFill>
                  <a:srgbClr val="E6EDF3"/>
                </a:solidFill>
                <a:latin typeface="Cascadia Code"/>
              </a:rPr>
              <a:t>)</a:t>
            </a:r>
            <a:r>
              <a:rPr sz="1200">
                <a:solidFill>
                  <a:srgbClr val="E6EDF3"/>
                </a:solidFill>
                <a:latin typeface="Cascadia Code"/>
              </a:rPr>
              <a:t> </a:t>
            </a:r>
            <a:r>
              <a:rPr sz="1200">
                <a:solidFill>
                  <a:srgbClr val="E6EDF3"/>
                </a:solidFill>
                <a:latin typeface="Cascadia Code"/>
              </a:rPr>
              <a:t>-</a:t>
            </a:r>
            <a:r>
              <a:rPr sz="1200">
                <a:solidFill>
                  <a:srgbClr val="E6EDF3"/>
                </a:solidFill>
                <a:latin typeface="Cascadia Code"/>
              </a:rPr>
              <a:t>&gt;</a:t>
            </a:r>
            <a:r>
              <a:rPr sz="1200">
                <a:solidFill>
                  <a:srgbClr val="E6EDF3"/>
                </a:solidFill>
                <a:latin typeface="Cascadia Code"/>
              </a:rPr>
              <a:t> </a:t>
            </a:r>
            <a:r>
              <a:rPr sz="1200">
                <a:solidFill>
                  <a:srgbClr val="A5D6FF"/>
                </a:solidFill>
                <a:latin typeface="Cascadia Code"/>
              </a:rPr>
              <a:t>anyhow</a:t>
            </a:r>
            <a:r>
              <a:rPr sz="1200">
                <a:solidFill>
                  <a:srgbClr val="E6EDF3"/>
                </a:solidFill>
                <a:latin typeface="Cascadia Code"/>
              </a:rPr>
              <a:t>:</a:t>
            </a:r>
            <a:r>
              <a:rPr sz="1200">
                <a:solidFill>
                  <a:srgbClr val="E6EDF3"/>
                </a:solidFill>
                <a:latin typeface="Cascadia Code"/>
              </a:rPr>
              <a:t>:</a:t>
            </a:r>
            <a:r>
              <a:rPr sz="1200">
                <a:solidFill>
                  <a:srgbClr val="A5D6FF"/>
                </a:solidFill>
                <a:latin typeface="Cascadia Code"/>
              </a:rPr>
              <a:t>Result</a:t>
            </a:r>
            <a:r>
              <a:rPr sz="1200">
                <a:solidFill>
                  <a:srgbClr val="E6EDF3"/>
                </a:solidFill>
                <a:latin typeface="Cascadia Code"/>
              </a:rPr>
              <a:t>&lt;</a:t>
            </a:r>
            <a:r>
              <a:rPr sz="1200">
                <a:solidFill>
                  <a:srgbClr val="A5D6FF"/>
                </a:solidFill>
                <a:latin typeface="Cascadia Code"/>
              </a:rPr>
              <a:t>TestResult</a:t>
            </a:r>
            <a:r>
              <a:rPr sz="1200">
                <a:solidFill>
                  <a:srgbClr val="E6EDF3"/>
                </a:solidFill>
                <a:latin typeface="Cascadia Code"/>
              </a:rPr>
              <a:t>&gt;</a:t>
            </a:r>
            <a:r>
              <a:rPr sz="1200">
                <a:solidFill>
                  <a:srgbClr val="E6EDF3"/>
                </a:solidFill>
                <a:latin typeface="Cascadia Code"/>
              </a:rPr>
              <a:t>;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>
                <a:solidFill>
                  <a:srgbClr val="E6EDF3"/>
                </a:solidFill>
                <a:latin typeface="Cascadia Code"/>
              </a:rP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371600"/>
            <a:ext cx="3383280" cy="3291840"/>
          </a:xfrm>
          <a:prstGeom prst="roundRect">
            <a:avLst/>
          </a:prstGeom>
          <a:solidFill>
            <a:srgbClr val="25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508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C7"/>
                </a:solidFill>
                <a:latin typeface="Segoe UI"/>
              </a:defRPr>
            </a:pPr>
            <a:r>
              <a:t>Registry Pattern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1920240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Stateless, stores boxed trait objects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HashMap&lt;String, Box&lt;dyn CITest&gt;&gt;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Case-insensitive lookup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Easily extensible: add_to_registry()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8 tests registered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29200"/>
            <a:ext cx="10881360" cy="1463040"/>
          </a:xfrm>
          <a:prstGeom prst="roundRect">
            <a:avLst/>
          </a:prstGeom>
          <a:solidFill>
            <a:srgbClr val="25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120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C7"/>
                </a:solidFill>
                <a:latin typeface="Segoe UI"/>
              </a:defRPr>
            </a:pPr>
            <a:r>
              <a:t>Data 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486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Python (pandas/numpy)  →  PyO3 bridge  →  Rust ndarray  →  CITest::run_test()  →  TestResult  →  Python bool / (p, coeff)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Key Achievement: pearsonr in Python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CC71"/>
                </a:solidFill>
                <a:latin typeface="Segoe UI"/>
              </a:defRPr>
            </a:pPr>
            <a:r>
              <a:t>End-to-end working pipeline: Python → Rust →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C7"/>
                </a:solidFill>
                <a:latin typeface="Segoe UI"/>
              </a:defRPr>
            </a:pPr>
            <a:r>
              <a:t>Usage Example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10515600" cy="411480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60604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FF7B72"/>
                </a:solidFill>
                <a:latin typeface="Cascadia Code"/>
              </a:rPr>
              <a:t>from</a:t>
            </a:r>
            <a:r>
              <a:rPr sz="1400">
                <a:solidFill>
                  <a:srgbClr val="E6EDF3"/>
                </a:solidFill>
                <a:latin typeface="Cascadia Code"/>
              </a:rPr>
              <a:t> </a:t>
            </a:r>
            <a:r>
              <a:rPr sz="1400">
                <a:solidFill>
                  <a:srgbClr val="E6EDF3"/>
                </a:solidFill>
                <a:latin typeface="Cascadia Code"/>
              </a:rPr>
              <a:t>ci_python</a:t>
            </a:r>
            <a:r>
              <a:rPr sz="1400">
                <a:solidFill>
                  <a:srgbClr val="E6EDF3"/>
                </a:solidFill>
                <a:latin typeface="Cascadia Code"/>
              </a:rPr>
              <a:t> </a:t>
            </a:r>
            <a:r>
              <a:rPr sz="1400">
                <a:solidFill>
                  <a:srgbClr val="FF7B72"/>
                </a:solidFill>
                <a:latin typeface="Cascadia Code"/>
              </a:rPr>
              <a:t>import</a:t>
            </a:r>
            <a:r>
              <a:rPr sz="1400">
                <a:solidFill>
                  <a:srgbClr val="E6EDF3"/>
                </a:solidFill>
                <a:latin typeface="Cascadia Code"/>
              </a:rPr>
              <a:t> </a:t>
            </a:r>
            <a:r>
              <a:rPr sz="1400">
                <a:solidFill>
                  <a:srgbClr val="E6EDF3"/>
                </a:solidFill>
                <a:latin typeface="Cascadia Code"/>
              </a:rPr>
              <a:t>PyRegistry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FF7B72"/>
                </a:solidFill>
                <a:latin typeface="Cascadia Code"/>
              </a:rPr>
              <a:t>import</a:t>
            </a:r>
            <a:r>
              <a:rPr sz="1400">
                <a:solidFill>
                  <a:srgbClr val="E6EDF3"/>
                </a:solidFill>
                <a:latin typeface="Cascadia Code"/>
              </a:rPr>
              <a:t> </a:t>
            </a:r>
            <a:r>
              <a:rPr sz="1400">
                <a:solidFill>
                  <a:srgbClr val="E6EDF3"/>
                </a:solidFill>
                <a:latin typeface="Cascadia Code"/>
              </a:rPr>
              <a:t>numpy</a:t>
            </a:r>
            <a:r>
              <a:rPr sz="1400">
                <a:solidFill>
                  <a:srgbClr val="E6EDF3"/>
                </a:solidFill>
                <a:latin typeface="Cascadia Code"/>
              </a:rPr>
              <a:t> </a:t>
            </a:r>
            <a:r>
              <a:rPr sz="1400">
                <a:solidFill>
                  <a:srgbClr val="FF7B72"/>
                </a:solidFill>
                <a:latin typeface="Cascadia Code"/>
              </a:rPr>
              <a:t>as</a:t>
            </a:r>
            <a:r>
              <a:rPr sz="1400">
                <a:solidFill>
                  <a:srgbClr val="E6EDF3"/>
                </a:solidFill>
                <a:latin typeface="Cascadia Code"/>
              </a:rPr>
              <a:t> </a:t>
            </a:r>
            <a:r>
              <a:rPr sz="1400">
                <a:solidFill>
                  <a:srgbClr val="A5D6FF"/>
                </a:solidFill>
                <a:latin typeface="Cascadia Code"/>
              </a:rPr>
              <a:t>np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>
                <a:latin typeface="Cascadia Code"/>
              </a:rPr>
              <a:t> 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6EDF3"/>
                </a:solidFill>
                <a:latin typeface="Cascadia Code"/>
              </a:rPr>
              <a:t>registry</a:t>
            </a:r>
            <a:r>
              <a:rPr sz="1400">
                <a:solidFill>
                  <a:srgbClr val="E6EDF3"/>
                </a:solidFill>
                <a:latin typeface="Cascadia Code"/>
              </a:rPr>
              <a:t> </a:t>
            </a:r>
            <a:r>
              <a:rPr sz="1400">
                <a:solidFill>
                  <a:srgbClr val="E6EDF3"/>
                </a:solidFill>
                <a:latin typeface="Cascadia Code"/>
              </a:rPr>
              <a:t>=</a:t>
            </a:r>
            <a:r>
              <a:rPr sz="1400">
                <a:solidFill>
                  <a:srgbClr val="E6EDF3"/>
                </a:solidFill>
                <a:latin typeface="Cascadia Code"/>
              </a:rPr>
              <a:t> </a:t>
            </a:r>
            <a:r>
              <a:rPr sz="1400">
                <a:solidFill>
                  <a:srgbClr val="E6EDF3"/>
                </a:solidFill>
                <a:latin typeface="Cascadia Code"/>
              </a:rPr>
              <a:t>PyRegistry</a:t>
            </a:r>
            <a:r>
              <a:rPr sz="1400">
                <a:solidFill>
                  <a:srgbClr val="E6EDF3"/>
                </a:solidFill>
                <a:latin typeface="Cascadia Code"/>
              </a:rPr>
              <a:t>(</a:t>
            </a:r>
            <a:r>
              <a:rPr sz="1400">
                <a:solidFill>
                  <a:srgbClr val="E6EDF3"/>
                </a:solidFill>
                <a:latin typeface="Cascadia Code"/>
              </a:rPr>
              <a:t>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6EDF3"/>
                </a:solidFill>
                <a:latin typeface="Cascadia Code"/>
              </a:rPr>
              <a:t>test</a:t>
            </a:r>
            <a:r>
              <a:rPr sz="1400">
                <a:solidFill>
                  <a:srgbClr val="E6EDF3"/>
                </a:solidFill>
                <a:latin typeface="Cascadia Code"/>
              </a:rPr>
              <a:t> </a:t>
            </a:r>
            <a:r>
              <a:rPr sz="1400">
                <a:solidFill>
                  <a:srgbClr val="E6EDF3"/>
                </a:solidFill>
                <a:latin typeface="Cascadia Code"/>
              </a:rPr>
              <a:t>=</a:t>
            </a:r>
            <a:r>
              <a:rPr sz="1400">
                <a:solidFill>
                  <a:srgbClr val="E6EDF3"/>
                </a:solidFill>
                <a:latin typeface="Cascadia Code"/>
              </a:rPr>
              <a:t> </a:t>
            </a:r>
            <a:r>
              <a:rPr sz="1400">
                <a:solidFill>
                  <a:srgbClr val="E6EDF3"/>
                </a:solidFill>
                <a:latin typeface="Cascadia Code"/>
              </a:rPr>
              <a:t>registry</a:t>
            </a:r>
            <a:r>
              <a:rPr sz="1400">
                <a:solidFill>
                  <a:srgbClr val="E6EDF3"/>
                </a:solidFill>
                <a:latin typeface="Cascadia Code"/>
              </a:rPr>
              <a:t>.</a:t>
            </a:r>
            <a:r>
              <a:rPr sz="1400">
                <a:solidFill>
                  <a:srgbClr val="E6EDF3"/>
                </a:solidFill>
                <a:latin typeface="Cascadia Code"/>
              </a:rPr>
              <a:t>get_test</a:t>
            </a:r>
            <a:r>
              <a:rPr sz="1400">
                <a:solidFill>
                  <a:srgbClr val="E6EDF3"/>
                </a:solidFill>
                <a:latin typeface="Cascadia Code"/>
              </a:rPr>
              <a:t>(</a:t>
            </a:r>
            <a:r>
              <a:rPr sz="1400">
                <a:solidFill>
                  <a:srgbClr val="A5D6FF"/>
                </a:solidFill>
                <a:latin typeface="Cascadia Code"/>
              </a:rPr>
              <a:t>'pearson_correlation'</a:t>
            </a:r>
            <a:r>
              <a:rPr sz="1400">
                <a:solidFill>
                  <a:srgbClr val="E6EDF3"/>
                </a:solidFill>
                <a:latin typeface="Cascadia Code"/>
              </a:rPr>
              <a:t>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>
                <a:latin typeface="Cascadia Code"/>
              </a:rPr>
              <a:t> 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6EDF3"/>
                </a:solidFill>
                <a:latin typeface="Cascadia Code"/>
              </a:rPr>
              <a:t>Z</a:t>
            </a:r>
            <a:r>
              <a:rPr sz="1400">
                <a:solidFill>
                  <a:srgbClr val="E6EDF3"/>
                </a:solidFill>
                <a:latin typeface="Cascadia Code"/>
              </a:rPr>
              <a:t> </a:t>
            </a:r>
            <a:r>
              <a:rPr sz="1400">
                <a:solidFill>
                  <a:srgbClr val="E6EDF3"/>
                </a:solidFill>
                <a:latin typeface="Cascadia Code"/>
              </a:rPr>
              <a:t>=</a:t>
            </a:r>
            <a:r>
              <a:rPr sz="1400">
                <a:solidFill>
                  <a:srgbClr val="E6EDF3"/>
                </a:solidFill>
                <a:latin typeface="Cascadia Code"/>
              </a:rPr>
              <a:t> </a:t>
            </a:r>
            <a:r>
              <a:rPr sz="1400">
                <a:solidFill>
                  <a:srgbClr val="A5D6FF"/>
                </a:solidFill>
                <a:latin typeface="Cascadia Code"/>
              </a:rPr>
              <a:t>np</a:t>
            </a:r>
            <a:r>
              <a:rPr sz="1400">
                <a:solidFill>
                  <a:srgbClr val="E6EDF3"/>
                </a:solidFill>
                <a:latin typeface="Cascadia Code"/>
              </a:rPr>
              <a:t>.</a:t>
            </a:r>
            <a:r>
              <a:rPr sz="1400">
                <a:solidFill>
                  <a:srgbClr val="E6EDF3"/>
                </a:solidFill>
                <a:latin typeface="Cascadia Code"/>
              </a:rPr>
              <a:t>column_stack</a:t>
            </a:r>
            <a:r>
              <a:rPr sz="1400">
                <a:solidFill>
                  <a:srgbClr val="E6EDF3"/>
                </a:solidFill>
                <a:latin typeface="Cascadia Code"/>
              </a:rPr>
              <a:t>(</a:t>
            </a:r>
            <a:r>
              <a:rPr sz="1400">
                <a:solidFill>
                  <a:srgbClr val="E6EDF3"/>
                </a:solidFill>
                <a:latin typeface="Cascadia Code"/>
              </a:rPr>
              <a:t>[</a:t>
            </a:r>
            <a:r>
              <a:rPr sz="1400">
                <a:solidFill>
                  <a:srgbClr val="E6EDF3"/>
                </a:solidFill>
                <a:latin typeface="Cascadia Code"/>
              </a:rPr>
              <a:t>Z1</a:t>
            </a:r>
            <a:r>
              <a:rPr sz="1400">
                <a:solidFill>
                  <a:srgbClr val="E6EDF3"/>
                </a:solidFill>
                <a:latin typeface="Cascadia Code"/>
              </a:rPr>
              <a:t>,</a:t>
            </a:r>
            <a:r>
              <a:rPr sz="1400">
                <a:solidFill>
                  <a:srgbClr val="E6EDF3"/>
                </a:solidFill>
                <a:latin typeface="Cascadia Code"/>
              </a:rPr>
              <a:t> </a:t>
            </a:r>
            <a:r>
              <a:rPr sz="1400">
                <a:solidFill>
                  <a:srgbClr val="E6EDF3"/>
                </a:solidFill>
                <a:latin typeface="Cascadia Code"/>
              </a:rPr>
              <a:t>Z2</a:t>
            </a:r>
            <a:r>
              <a:rPr sz="1400">
                <a:solidFill>
                  <a:srgbClr val="E6EDF3"/>
                </a:solidFill>
                <a:latin typeface="Cascadia Code"/>
              </a:rPr>
              <a:t>]</a:t>
            </a:r>
            <a:r>
              <a:rPr sz="1400">
                <a:solidFill>
                  <a:srgbClr val="E6EDF3"/>
                </a:solidFill>
                <a:latin typeface="Cascadia Code"/>
              </a:rPr>
              <a:t>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6EDF3"/>
                </a:solidFill>
                <a:latin typeface="Cascadia Code"/>
              </a:rPr>
              <a:t>x</a:t>
            </a:r>
            <a:r>
              <a:rPr sz="1400">
                <a:solidFill>
                  <a:srgbClr val="E6EDF3"/>
                </a:solidFill>
                <a:latin typeface="Cascadia Code"/>
              </a:rPr>
              <a:t> </a:t>
            </a:r>
            <a:r>
              <a:rPr sz="1400">
                <a:solidFill>
                  <a:srgbClr val="E6EDF3"/>
                </a:solidFill>
                <a:latin typeface="Cascadia Code"/>
              </a:rPr>
              <a:t>=</a:t>
            </a:r>
            <a:r>
              <a:rPr sz="1400">
                <a:solidFill>
                  <a:srgbClr val="E6EDF3"/>
                </a:solidFill>
                <a:latin typeface="Cascadia Code"/>
              </a:rPr>
              <a:t> </a:t>
            </a:r>
            <a:r>
              <a:rPr sz="1400">
                <a:solidFill>
                  <a:srgbClr val="E6EDF3"/>
                </a:solidFill>
                <a:latin typeface="Cascadia Code"/>
              </a:rPr>
              <a:t>df</a:t>
            </a:r>
            <a:r>
              <a:rPr sz="1400">
                <a:solidFill>
                  <a:srgbClr val="E6EDF3"/>
                </a:solidFill>
                <a:latin typeface="Cascadia Code"/>
              </a:rPr>
              <a:t>[</a:t>
            </a:r>
            <a:r>
              <a:rPr sz="1400">
                <a:solidFill>
                  <a:srgbClr val="A5D6FF"/>
                </a:solidFill>
                <a:latin typeface="Cascadia Code"/>
              </a:rPr>
              <a:t>'X'</a:t>
            </a:r>
            <a:r>
              <a:rPr sz="1400">
                <a:solidFill>
                  <a:srgbClr val="E6EDF3"/>
                </a:solidFill>
                <a:latin typeface="Cascadia Code"/>
              </a:rPr>
              <a:t>]</a:t>
            </a:r>
            <a:r>
              <a:rPr sz="1400">
                <a:solidFill>
                  <a:srgbClr val="E6EDF3"/>
                </a:solidFill>
                <a:latin typeface="Cascadia Code"/>
              </a:rPr>
              <a:t>.</a:t>
            </a:r>
            <a:r>
              <a:rPr sz="1400">
                <a:solidFill>
                  <a:srgbClr val="E6EDF3"/>
                </a:solidFill>
                <a:latin typeface="Cascadia Code"/>
              </a:rPr>
              <a:t>to_numpy</a:t>
            </a:r>
            <a:r>
              <a:rPr sz="1400">
                <a:solidFill>
                  <a:srgbClr val="E6EDF3"/>
                </a:solidFill>
                <a:latin typeface="Cascadia Code"/>
              </a:rPr>
              <a:t>(</a:t>
            </a:r>
            <a:r>
              <a:rPr sz="1400">
                <a:solidFill>
                  <a:srgbClr val="E6EDF3"/>
                </a:solidFill>
                <a:latin typeface="Cascadia Code"/>
              </a:rPr>
              <a:t>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6EDF3"/>
                </a:solidFill>
                <a:latin typeface="Cascadia Code"/>
              </a:rPr>
              <a:t>y</a:t>
            </a:r>
            <a:r>
              <a:rPr sz="1400">
                <a:solidFill>
                  <a:srgbClr val="E6EDF3"/>
                </a:solidFill>
                <a:latin typeface="Cascadia Code"/>
              </a:rPr>
              <a:t> </a:t>
            </a:r>
            <a:r>
              <a:rPr sz="1400">
                <a:solidFill>
                  <a:srgbClr val="E6EDF3"/>
                </a:solidFill>
                <a:latin typeface="Cascadia Code"/>
              </a:rPr>
              <a:t>=</a:t>
            </a:r>
            <a:r>
              <a:rPr sz="1400">
                <a:solidFill>
                  <a:srgbClr val="E6EDF3"/>
                </a:solidFill>
                <a:latin typeface="Cascadia Code"/>
              </a:rPr>
              <a:t> </a:t>
            </a:r>
            <a:r>
              <a:rPr sz="1400">
                <a:solidFill>
                  <a:srgbClr val="E6EDF3"/>
                </a:solidFill>
                <a:latin typeface="Cascadia Code"/>
              </a:rPr>
              <a:t>df</a:t>
            </a:r>
            <a:r>
              <a:rPr sz="1400">
                <a:solidFill>
                  <a:srgbClr val="E6EDF3"/>
                </a:solidFill>
                <a:latin typeface="Cascadia Code"/>
              </a:rPr>
              <a:t>[</a:t>
            </a:r>
            <a:r>
              <a:rPr sz="1400">
                <a:solidFill>
                  <a:srgbClr val="A5D6FF"/>
                </a:solidFill>
                <a:latin typeface="Cascadia Code"/>
              </a:rPr>
              <a:t>'Y'</a:t>
            </a:r>
            <a:r>
              <a:rPr sz="1400">
                <a:solidFill>
                  <a:srgbClr val="E6EDF3"/>
                </a:solidFill>
                <a:latin typeface="Cascadia Code"/>
              </a:rPr>
              <a:t>]</a:t>
            </a:r>
            <a:r>
              <a:rPr sz="1400">
                <a:solidFill>
                  <a:srgbClr val="E6EDF3"/>
                </a:solidFill>
                <a:latin typeface="Cascadia Code"/>
              </a:rPr>
              <a:t>.</a:t>
            </a:r>
            <a:r>
              <a:rPr sz="1400">
                <a:solidFill>
                  <a:srgbClr val="E6EDF3"/>
                </a:solidFill>
                <a:latin typeface="Cascadia Code"/>
              </a:rPr>
              <a:t>to_numpy</a:t>
            </a:r>
            <a:r>
              <a:rPr sz="1400">
                <a:solidFill>
                  <a:srgbClr val="E6EDF3"/>
                </a:solidFill>
                <a:latin typeface="Cascadia Code"/>
              </a:rPr>
              <a:t>(</a:t>
            </a:r>
            <a:r>
              <a:rPr sz="1400">
                <a:solidFill>
                  <a:srgbClr val="E6EDF3"/>
                </a:solidFill>
                <a:latin typeface="Cascadia Code"/>
              </a:rPr>
              <a:t>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>
                <a:latin typeface="Cascadia Code"/>
              </a:rPr>
              <a:t> 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6EDF3"/>
                </a:solidFill>
                <a:latin typeface="Cascadia Code"/>
              </a:rPr>
              <a:t>result</a:t>
            </a:r>
            <a:r>
              <a:rPr sz="1400">
                <a:solidFill>
                  <a:srgbClr val="E6EDF3"/>
                </a:solidFill>
                <a:latin typeface="Cascadia Code"/>
              </a:rPr>
              <a:t> </a:t>
            </a:r>
            <a:r>
              <a:rPr sz="1400">
                <a:solidFill>
                  <a:srgbClr val="E6EDF3"/>
                </a:solidFill>
                <a:latin typeface="Cascadia Code"/>
              </a:rPr>
              <a:t>=</a:t>
            </a:r>
            <a:r>
              <a:rPr sz="1400">
                <a:solidFill>
                  <a:srgbClr val="E6EDF3"/>
                </a:solidFill>
                <a:latin typeface="Cascadia Code"/>
              </a:rPr>
              <a:t> </a:t>
            </a:r>
            <a:r>
              <a:rPr sz="1400">
                <a:solidFill>
                  <a:srgbClr val="E6EDF3"/>
                </a:solidFill>
                <a:latin typeface="Cascadia Code"/>
              </a:rPr>
              <a:t>test</a:t>
            </a:r>
            <a:r>
              <a:rPr sz="1400">
                <a:solidFill>
                  <a:srgbClr val="E6EDF3"/>
                </a:solidFill>
                <a:latin typeface="Cascadia Code"/>
              </a:rPr>
              <a:t>(</a:t>
            </a:r>
            <a:r>
              <a:rPr sz="1400">
                <a:solidFill>
                  <a:srgbClr val="E6EDF3"/>
                </a:solidFill>
                <a:latin typeface="Cascadia Code"/>
              </a:rPr>
              <a:t>Z</a:t>
            </a:r>
            <a:r>
              <a:rPr sz="1400">
                <a:solidFill>
                  <a:srgbClr val="E6EDF3"/>
                </a:solidFill>
                <a:latin typeface="Cascadia Code"/>
              </a:rPr>
              <a:t>,</a:t>
            </a:r>
            <a:r>
              <a:rPr sz="1400">
                <a:solidFill>
                  <a:srgbClr val="E6EDF3"/>
                </a:solidFill>
                <a:latin typeface="Cascadia Code"/>
              </a:rPr>
              <a:t> </a:t>
            </a:r>
            <a:r>
              <a:rPr sz="1400">
                <a:solidFill>
                  <a:srgbClr val="E6EDF3"/>
                </a:solidFill>
                <a:latin typeface="Cascadia Code"/>
              </a:rPr>
              <a:t>x</a:t>
            </a:r>
            <a:r>
              <a:rPr sz="1400">
                <a:solidFill>
                  <a:srgbClr val="E6EDF3"/>
                </a:solidFill>
                <a:latin typeface="Cascadia Code"/>
              </a:rPr>
              <a:t>,</a:t>
            </a:r>
            <a:r>
              <a:rPr sz="1400">
                <a:solidFill>
                  <a:srgbClr val="E6EDF3"/>
                </a:solidFill>
                <a:latin typeface="Cascadia Code"/>
              </a:rPr>
              <a:t> </a:t>
            </a:r>
            <a:r>
              <a:rPr sz="1400">
                <a:solidFill>
                  <a:srgbClr val="E6EDF3"/>
                </a:solidFill>
                <a:latin typeface="Cascadia Code"/>
              </a:rPr>
              <a:t>y</a:t>
            </a:r>
            <a:r>
              <a:rPr sz="1400">
                <a:solidFill>
                  <a:srgbClr val="E6EDF3"/>
                </a:solidFill>
                <a:latin typeface="Cascadia Code"/>
              </a:rPr>
              <a:t>,</a:t>
            </a:r>
            <a:r>
              <a:rPr sz="1400">
                <a:solidFill>
                  <a:srgbClr val="E6EDF3"/>
                </a:solidFill>
                <a:latin typeface="Cascadia Code"/>
              </a:rPr>
              <a:t> </a:t>
            </a:r>
            <a:r>
              <a:rPr sz="1400">
                <a:solidFill>
                  <a:srgbClr val="E6EDF3"/>
                </a:solidFill>
                <a:latin typeface="Cascadia Code"/>
              </a:rPr>
              <a:t>boolean</a:t>
            </a:r>
            <a:r>
              <a:rPr sz="1400">
                <a:solidFill>
                  <a:srgbClr val="E6EDF3"/>
                </a:solidFill>
                <a:latin typeface="Cascadia Code"/>
              </a:rPr>
              <a:t>=</a:t>
            </a:r>
            <a:r>
              <a:rPr sz="1400">
                <a:solidFill>
                  <a:srgbClr val="FF7B72"/>
                </a:solidFill>
                <a:latin typeface="Cascadia Code"/>
              </a:rPr>
              <a:t>True</a:t>
            </a:r>
            <a:r>
              <a:rPr sz="1400">
                <a:solidFill>
                  <a:srgbClr val="E6EDF3"/>
                </a:solidFill>
                <a:latin typeface="Cascadia Code"/>
              </a:rPr>
              <a:t>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>
                <a:latin typeface="Cascadia Code"/>
              </a:rPr>
              <a:t> 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6EDF3"/>
                </a:solidFill>
                <a:latin typeface="Cascadia Code"/>
              </a:rPr>
              <a:t>result</a:t>
            </a:r>
            <a:r>
              <a:rPr sz="1400">
                <a:solidFill>
                  <a:srgbClr val="E6EDF3"/>
                </a:solidFill>
                <a:latin typeface="Cascadia Code"/>
              </a:rPr>
              <a:t> </a:t>
            </a:r>
            <a:r>
              <a:rPr sz="1400">
                <a:solidFill>
                  <a:srgbClr val="E6EDF3"/>
                </a:solidFill>
                <a:latin typeface="Cascadia Code"/>
              </a:rPr>
              <a:t>=</a:t>
            </a:r>
            <a:r>
              <a:rPr sz="1400">
                <a:solidFill>
                  <a:srgbClr val="E6EDF3"/>
                </a:solidFill>
                <a:latin typeface="Cascadia Code"/>
              </a:rPr>
              <a:t> </a:t>
            </a:r>
            <a:r>
              <a:rPr sz="1400">
                <a:solidFill>
                  <a:srgbClr val="E6EDF3"/>
                </a:solidFill>
                <a:latin typeface="Cascadia Code"/>
              </a:rPr>
              <a:t>test</a:t>
            </a:r>
            <a:r>
              <a:rPr sz="1400">
                <a:solidFill>
                  <a:srgbClr val="E6EDF3"/>
                </a:solidFill>
                <a:latin typeface="Cascadia Code"/>
              </a:rPr>
              <a:t>(</a:t>
            </a:r>
            <a:r>
              <a:rPr sz="1400">
                <a:solidFill>
                  <a:srgbClr val="E6EDF3"/>
                </a:solidFill>
                <a:latin typeface="Cascadia Code"/>
              </a:rPr>
              <a:t>Z</a:t>
            </a:r>
            <a:r>
              <a:rPr sz="1400">
                <a:solidFill>
                  <a:srgbClr val="E6EDF3"/>
                </a:solidFill>
                <a:latin typeface="Cascadia Code"/>
              </a:rPr>
              <a:t>,</a:t>
            </a:r>
            <a:r>
              <a:rPr sz="1400">
                <a:solidFill>
                  <a:srgbClr val="E6EDF3"/>
                </a:solidFill>
                <a:latin typeface="Cascadia Code"/>
              </a:rPr>
              <a:t> </a:t>
            </a:r>
            <a:r>
              <a:rPr sz="1400">
                <a:solidFill>
                  <a:srgbClr val="E6EDF3"/>
                </a:solidFill>
                <a:latin typeface="Cascadia Code"/>
              </a:rPr>
              <a:t>x</a:t>
            </a:r>
            <a:r>
              <a:rPr sz="1400">
                <a:solidFill>
                  <a:srgbClr val="E6EDF3"/>
                </a:solidFill>
                <a:latin typeface="Cascadia Code"/>
              </a:rPr>
              <a:t>,</a:t>
            </a:r>
            <a:r>
              <a:rPr sz="1400">
                <a:solidFill>
                  <a:srgbClr val="E6EDF3"/>
                </a:solidFill>
                <a:latin typeface="Cascadia Code"/>
              </a:rPr>
              <a:t> </a:t>
            </a:r>
            <a:r>
              <a:rPr sz="1400">
                <a:solidFill>
                  <a:srgbClr val="E6EDF3"/>
                </a:solidFill>
                <a:latin typeface="Cascadia Code"/>
              </a:rPr>
              <a:t>y</a:t>
            </a:r>
            <a:r>
              <a:rPr sz="1400">
                <a:solidFill>
                  <a:srgbClr val="E6EDF3"/>
                </a:solidFill>
                <a:latin typeface="Cascadia Code"/>
              </a:rPr>
              <a:t>,</a:t>
            </a:r>
            <a:r>
              <a:rPr sz="1400">
                <a:solidFill>
                  <a:srgbClr val="E6EDF3"/>
                </a:solidFill>
                <a:latin typeface="Cascadia Code"/>
              </a:rPr>
              <a:t> </a:t>
            </a:r>
            <a:r>
              <a:rPr sz="1400">
                <a:solidFill>
                  <a:srgbClr val="E6EDF3"/>
                </a:solidFill>
                <a:latin typeface="Cascadia Code"/>
              </a:rPr>
              <a:t>boolean</a:t>
            </a:r>
            <a:r>
              <a:rPr sz="1400">
                <a:solidFill>
                  <a:srgbClr val="E6EDF3"/>
                </a:solidFill>
                <a:latin typeface="Cascadia Code"/>
              </a:rPr>
              <a:t>=</a:t>
            </a:r>
            <a:r>
              <a:rPr sz="1400">
                <a:solidFill>
                  <a:srgbClr val="FF7B72"/>
                </a:solidFill>
                <a:latin typeface="Cascadia Code"/>
              </a:rPr>
              <a:t>False</a:t>
            </a:r>
            <a:r>
              <a:rPr sz="1400">
                <a:solidFill>
                  <a:srgbClr val="E6EDF3"/>
                </a:solidFill>
                <a:latin typeface="Cascadia Code"/>
              </a:rPr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Performance: Rust vs Python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Segoe UI"/>
              </a:defRPr>
            </a:pPr>
            <a:r>
              <a:t>PearsonCorrelation with conditioning variables (Z)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029200" cy="3657600"/>
          </a:xfrm>
          <a:prstGeom prst="roundRect">
            <a:avLst/>
          </a:prstGeom>
          <a:solidFill>
            <a:srgbClr val="25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CC71"/>
                </a:solidFill>
                <a:latin typeface="Segoe UI"/>
              </a:defRPr>
            </a:pPr>
            <a:r>
              <a:t>Rust (via PyO3)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2ECC71"/>
                </a:solidFill>
                <a:latin typeface="Segoe UI"/>
              </a:defRPr>
            </a:pPr>
            <a:r>
              <a:t>1.37 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lstsq(X):          102.5 µs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lstsq(Y):          149.5 µs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residuals:         116.3 µs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pearsonr:           84.1 µs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total run_test:   452.5 µs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029200" cy="3657600"/>
          </a:xfrm>
          <a:prstGeom prst="roundRect">
            <a:avLst/>
          </a:prstGeom>
          <a:solidFill>
            <a:srgbClr val="25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39C12"/>
                </a:solidFill>
                <a:latin typeface="Segoe UI"/>
              </a:defRPr>
            </a:pPr>
            <a:r>
              <a:t>Pure Python (pgmpy)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688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39C12"/>
                </a:solidFill>
                <a:latin typeface="Segoe UI"/>
              </a:defRPr>
            </a:pPr>
            <a:r>
              <a:t>8.06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9184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Same test, same data, same results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Identical p-values and coefficients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Values match to 14 decimal places: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  p = 0.20381261707...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  r = 0.09023876680...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5669280"/>
            <a:ext cx="5760720" cy="822960"/>
          </a:xfrm>
          <a:prstGeom prst="roundRect">
            <a:avLst/>
          </a:prstGeom>
          <a:solidFill>
            <a:srgbClr val="0A4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576072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96C7"/>
                </a:solidFill>
                <a:latin typeface="Segoe UI"/>
              </a:defRPr>
            </a:pPr>
            <a:r>
              <a:t>⚡ ~6x faster with identical results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Test Coverage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81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5029200"/>
          </a:xfrm>
          <a:prstGeom prst="roundRect">
            <a:avLst/>
          </a:prstGeom>
          <a:solidFill>
            <a:srgbClr val="25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C7"/>
                </a:solidFill>
                <a:latin typeface="Segoe UI"/>
              </a:defRPr>
            </a:pPr>
            <a:r>
              <a:t>Rust Unit Tests (13 tests)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Segoe UI"/>
              </a:defRPr>
            </a:pPr>
            <a:r>
              <a:t>Registry (3 tests):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Segoe UI"/>
              </a:defRPr>
            </a:pPr>
            <a:r>
              <a:t>  • Initialization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Segoe UI"/>
              </a:defRPr>
            </a:pPr>
            <a:r>
              <a:t>  • Lookup (case-insensitive)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Segoe UI"/>
              </a:defRPr>
            </a:pPr>
            <a:r>
              <a:t>  • Listing all tests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Segoe UI"/>
              </a:defRPr>
            </a:pPr>
            <a:r>
              <a:t>PearsonCorrelation (10 tests):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Segoe UI"/>
              </a:defRPr>
            </a:pPr>
            <a:r>
              <a:t>  • Unconditional: independent &amp; correlated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Segoe UI"/>
              </a:defRPr>
            </a:pPr>
            <a:r>
              <a:t>  • Conditional: with confounders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Segoe UI"/>
              </a:defRPr>
            </a:pPr>
            <a:r>
              <a:t>  • V-structure (collider) scenarios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Segoe UI"/>
              </a:defRPr>
            </a:pPr>
            <a:r>
              <a:t>  • Multiple conditioning variables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Segoe UI"/>
              </a:defRPr>
            </a:pPr>
            <a:r>
              <a:t>  • Both boolean and numeric output modes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303520" cy="5029200"/>
          </a:xfrm>
          <a:prstGeom prst="roundRect">
            <a:avLst/>
          </a:prstGeom>
          <a:solidFill>
            <a:srgbClr val="25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C7"/>
                </a:solidFill>
                <a:latin typeface="Segoe UI"/>
              </a:defRPr>
            </a:pPr>
            <a:r>
              <a:t>Python Benchmark (test.py)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2860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Segoe UI"/>
              </a:defRPr>
            </a:pPr>
            <a:r>
              <a:t>End-to-end validation: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Segoe UI"/>
              </a:defRPr>
            </a:pPr>
            <a:r>
              <a:t>  • Rust vs pgmpy output comparison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Segoe UI"/>
              </a:defRPr>
            </a:pPr>
            <a:r>
              <a:t>  • Independent variables (no conditioning)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Segoe UI"/>
              </a:defRPr>
            </a:pPr>
            <a:r>
              <a:t>  • Conditional independence (Z1, Z2)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Segoe UI"/>
              </a:defRPr>
            </a:pPr>
            <a:r>
              <a:t>Performance profiling: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Segoe UI"/>
              </a:defRPr>
            </a:pPr>
            <a:r>
              <a:t>  • Per-operation timing (lstsq, residuals, pearsonr)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Segoe UI"/>
              </a:defRPr>
            </a:pPr>
            <a:r>
              <a:t>  • Total run_test timing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Segoe UI"/>
              </a:defRPr>
            </a:pPr>
            <a:r>
              <a:t>  • Side-by-side Rust vs Python duration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Status &amp; Remaining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81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25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CC71"/>
                </a:solidFill>
                <a:latin typeface="Segoe UI"/>
              </a:defRPr>
            </a:pPr>
            <a:r>
              <a:t>Done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✅ Workspace architecture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✅ CITest trait (Strategy pattern)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✅ Registry pattern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✅ PearsonCorrelation test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✅ PyO3 bindings (ci_python)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✅ Python PyRegistry wrapper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✅ Rust &amp; Python test suites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✅ Git repository &amp;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371600"/>
            <a:ext cx="3383280" cy="4754880"/>
          </a:xfrm>
          <a:prstGeom prst="roundRect">
            <a:avLst/>
          </a:prstGeom>
          <a:solidFill>
            <a:srgbClr val="25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39C12"/>
                </a:solidFill>
                <a:latin typeface="Segoe UI"/>
              </a:defRPr>
            </a:pPr>
            <a:r>
              <a:t>Near Future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01168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🚧 Chi-square implementation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🚧 Power divergence implementation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🚧 G-test implementation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🚧 Likelihood ratio test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🚧 Significance level config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371600"/>
            <a:ext cx="3383280" cy="4754880"/>
          </a:xfrm>
          <a:prstGeom prst="roundRect">
            <a:avLst/>
          </a:prstGeom>
          <a:solidFill>
            <a:srgbClr val="25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8CAE4"/>
                </a:solidFill>
                <a:latin typeface="Segoe UI"/>
              </a:defRPr>
            </a:pPr>
            <a:r>
              <a:t>Future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01168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⏳ R bindings (extendr)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⏳ JS/WASM bindings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⏳ Auto test-type inference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⏳ Additional CI tests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